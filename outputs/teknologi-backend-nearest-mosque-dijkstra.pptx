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ver-kicker">
            <a:extLst>
              <a:ext uri="{FF2B5EF4-FFF2-40B4-BE49-F238E27FC236}">
                <a16:creationId xmlns:a16="http://schemas.microsoft.com/office/drawing/2014/main" id="{CFA910B6-AA64-40F3-AADB-261002918B7F}"/>
              </a:ext>
            </a:extLst>
          </p:cNvPr>
          <p:cNvSpPr>
            <a:spLocks noGrp="1"/>
          </p:cNvSpPr>
          <p:nvPr/>
        </p:nvSpPr>
        <p:spPr>
          <a:xfrm>
            <a:off x="400050" y="409575"/>
            <a:ext cx="59055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iMosque · Backend Technology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FA750965-3E29-4F53-9C90-6C5121A7C2A0}"/>
              </a:ext>
            </a:extLst>
          </p:cNvPr>
          <p:cNvSpPr>
            <a:spLocks noGrp="1"/>
          </p:cNvSpPr>
          <p:nvPr/>
        </p:nvSpPr>
        <p:spPr>
          <a:xfrm>
            <a:off x="400050" y="2247900"/>
            <a:ext cx="10572750" cy="230505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4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Teknologi backend</a:t>
            </a:r>
          </a:p>
          <a:p>
            <a:pPr algn="l">
              <a:lnSpc>
                <a:spcPct val="90000"/>
              </a:lnSpc>
              <a:spcAft>
                <a:spcPts val="0"/>
              </a:spcAft>
              <a:buNone/>
              <a:defRPr sz="4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nearest mosque &amp; Dijkstra</a:t>
            </a:r>
          </a:p>
        </p:txBody>
      </p:sp>
      <p:sp>
        <p:nvSpPr>
          <p:cNvPr id="3" name="cover-rule">
            <a:extLst>
              <a:ext uri="{FF2B5EF4-FFF2-40B4-BE49-F238E27FC236}">
                <a16:creationId xmlns:a16="http://schemas.microsoft.com/office/drawing/2014/main" id="{9A178474-F00B-443E-88B6-12C6E2C830E0}"/>
              </a:ext>
            </a:extLst>
          </p:cNvPr>
          <p:cNvSpPr>
            <a:spLocks noGrp="1"/>
          </p:cNvSpPr>
          <p:nvPr/>
        </p:nvSpPr>
        <p:spPr>
          <a:xfrm>
            <a:off x="400050" y="4867275"/>
            <a:ext cx="1428750" cy="47625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E9BA67AC-8D6A-49A0-B8DC-8C23456C3D67}"/>
              </a:ext>
            </a:extLst>
          </p:cNvPr>
          <p:cNvSpPr>
            <a:spLocks noGrp="1"/>
          </p:cNvSpPr>
          <p:nvPr/>
        </p:nvSpPr>
        <p:spPr>
          <a:xfrm>
            <a:off x="400050" y="5095875"/>
            <a:ext cx="9906000" cy="857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  <a:buNone/>
              <a:defRPr sz="17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Dari koordinat GPS ke masjid terdekat dan rute jalan yang dapat dipakai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FastAPI · ArangoDB · OSMnx · NetworkX · Shapely STRtree · NumPy</a:t>
            </a:r>
          </a:p>
        </p:txBody>
      </p:sp>
    </p:spTree>
    <p:extLst>
      <p:ext uri="{BB962C8B-B14F-4D97-AF65-F5344CB8AC3E}">
        <p14:creationId xmlns:p14="http://schemas.microsoft.com/office/powerpoint/2010/main" val="344538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678EE105-1B0E-4703-A52B-C4FA8B9D22F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Satu pipeline mengubah GPS menjadi rute masjid</a:t>
            </a:r>
          </a:p>
        </p:txBody>
      </p:sp>
      <p:sp>
        <p:nvSpPr>
          <p:cNvPr id="2" name="pipe-api-accent">
            <a:extLst>
              <a:ext uri="{FF2B5EF4-FFF2-40B4-BE49-F238E27FC236}">
                <a16:creationId xmlns:a16="http://schemas.microsoft.com/office/drawing/2014/main" id="{76B8C29D-F198-409F-B493-F43BF59541E5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47625" cy="933450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3" name="pipe-api">
            <a:extLst>
              <a:ext uri="{FF2B5EF4-FFF2-40B4-BE49-F238E27FC236}">
                <a16:creationId xmlns:a16="http://schemas.microsoft.com/office/drawing/2014/main" id="{055465CC-E7A9-479F-9DC1-0B371DCE1108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4448175" cy="933450"/>
          </a:xfrm>
          <a:prstGeom prst="rect">
            <a:avLst/>
          </a:prstGeom>
        </p:spPr>
        <p:txBody>
          <a:bodyPr lIns="0" tIns="0" rIns="0" bIns="0" anchor="t">
            <a:normAutofit fontScale="96235" lnSpcReduction="10000"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· API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FastAPI menerima koordinat, dataset, radius, algoritma, dan profil. Pydantic menolak payload yang tidak valid sebelum masuk ke layanan inti.</a:t>
            </a:r>
          </a:p>
        </p:txBody>
      </p:sp>
      <p:sp>
        <p:nvSpPr>
          <p:cNvPr id="4" name="pipe-nearest-accent">
            <a:extLst>
              <a:ext uri="{FF2B5EF4-FFF2-40B4-BE49-F238E27FC236}">
                <a16:creationId xmlns:a16="http://schemas.microsoft.com/office/drawing/2014/main" id="{1DBD2B1C-5BB5-497A-A74D-E4F8CAD23F10}"/>
              </a:ext>
            </a:extLst>
          </p:cNvPr>
          <p:cNvSpPr>
            <a:spLocks noGrp="1"/>
          </p:cNvSpPr>
          <p:nvPr/>
        </p:nvSpPr>
        <p:spPr>
          <a:xfrm>
            <a:off x="400050" y="2571750"/>
            <a:ext cx="47625" cy="933450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5" name="pipe-nearest">
            <a:extLst>
              <a:ext uri="{FF2B5EF4-FFF2-40B4-BE49-F238E27FC236}">
                <a16:creationId xmlns:a16="http://schemas.microsoft.com/office/drawing/2014/main" id="{B0BF94FE-8199-433E-AA6E-3CBEAF5905CA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4448175" cy="933450"/>
          </a:xfrm>
          <a:prstGeom prst="rect">
            <a:avLst/>
          </a:prstGeom>
        </p:spPr>
        <p:txBody>
          <a:bodyPr lIns="0" tIns="0" rIns="0" bIns="0" anchor="t">
            <a:normAutofit fontScale="91986" lnSpcReduction="10000"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· Nearest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ArangoDB memakai GeoJSON index dan GEO_DISTANCE untuk mengembalikan kandidat terdekat yang sudah diurutkan dan dibatasi.</a:t>
            </a:r>
          </a:p>
        </p:txBody>
      </p:sp>
      <p:sp>
        <p:nvSpPr>
          <p:cNvPr id="6" name="pipe-graph-accent">
            <a:extLst>
              <a:ext uri="{FF2B5EF4-FFF2-40B4-BE49-F238E27FC236}">
                <a16:creationId xmlns:a16="http://schemas.microsoft.com/office/drawing/2014/main" id="{BBC6B869-3FBD-42D6-8456-BE0B818B8F18}"/>
              </a:ext>
            </a:extLst>
          </p:cNvPr>
          <p:cNvSpPr>
            <a:spLocks noGrp="1"/>
          </p:cNvSpPr>
          <p:nvPr/>
        </p:nvSpPr>
        <p:spPr>
          <a:xfrm>
            <a:off x="400050" y="3667125"/>
            <a:ext cx="47625" cy="933450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7" name="pipe-graph">
            <a:extLst>
              <a:ext uri="{FF2B5EF4-FFF2-40B4-BE49-F238E27FC236}">
                <a16:creationId xmlns:a16="http://schemas.microsoft.com/office/drawing/2014/main" id="{96DCB956-370A-4E81-9470-8CC0DC0D9E79}"/>
              </a:ext>
            </a:extLst>
          </p:cNvPr>
          <p:cNvSpPr>
            <a:spLocks noGrp="1"/>
          </p:cNvSpPr>
          <p:nvPr/>
        </p:nvSpPr>
        <p:spPr>
          <a:xfrm>
            <a:off x="571500" y="3667125"/>
            <a:ext cx="4448175" cy="933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· Graph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OSMnx menyediakan road network; NetworkX menyimpan graph berarah dengan bobot length dan travel_time.</a:t>
            </a:r>
          </a:p>
        </p:txBody>
      </p:sp>
      <p:sp>
        <p:nvSpPr>
          <p:cNvPr id="8" name="pipe-route-accent">
            <a:extLst>
              <a:ext uri="{FF2B5EF4-FFF2-40B4-BE49-F238E27FC236}">
                <a16:creationId xmlns:a16="http://schemas.microsoft.com/office/drawing/2014/main" id="{314841C5-C14A-45E6-B0A7-6FFC37BDFB92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47625" cy="1000125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9" name="pipe-route">
            <a:extLst>
              <a:ext uri="{FF2B5EF4-FFF2-40B4-BE49-F238E27FC236}">
                <a16:creationId xmlns:a16="http://schemas.microsoft.com/office/drawing/2014/main" id="{060347FE-A4EC-4AB6-B2ED-44A875C54444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4448175" cy="1000125"/>
          </a:xfrm>
          <a:prstGeom prst="rect">
            <a:avLst/>
          </a:prstGeom>
        </p:spPr>
        <p:txBody>
          <a:bodyPr lIns="0" tIns="0" rIns="0" bIns="0" anchor="t">
            <a:normAutofit fontScale="98886" lnSpcReduction="10000"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· Route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STRtree men-snap koordinat ke edge jalan. Dijkstra menghitung kandidat dan rute final, lalu backend mengirim encoded polyline.</a:t>
            </a:r>
          </a:p>
        </p:txBody>
      </p:sp>
      <p:sp>
        <p:nvSpPr>
          <p:cNvPr id="10" name="pipeline-image-backing">
            <a:extLst>
              <a:ext uri="{FF2B5EF4-FFF2-40B4-BE49-F238E27FC236}">
                <a16:creationId xmlns:a16="http://schemas.microsoft.com/office/drawing/2014/main" id="{536A7D1A-100F-4D8F-B387-EA888F35C9C5}"/>
              </a:ext>
            </a:extLst>
          </p:cNvPr>
          <p:cNvSpPr>
            <a:spLocks noGrp="1"/>
          </p:cNvSpPr>
          <p:nvPr/>
        </p:nvSpPr>
        <p:spPr>
          <a:xfrm>
            <a:off x="5505450" y="1381125"/>
            <a:ext cx="6286500" cy="4572000"/>
          </a:xfrm>
          <a:prstGeom prst="roundRect">
            <a:avLst>
              <a:gd name="adj" fmla="val 1667"/>
            </a:avLst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source-2">
            <a:extLst>
              <a:ext uri="{FF2B5EF4-FFF2-40B4-BE49-F238E27FC236}">
                <a16:creationId xmlns:a16="http://schemas.microsoft.com/office/drawing/2014/main" id="{548A8FA0-A5E6-431E-9F7C-EDBD07243CE4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9906000" cy="2095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8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Sumber: main.py · arangodb_repo.py · osm_graph.py · routing_osm.py</a:t>
            </a:r>
          </a:p>
        </p:txBody>
      </p:sp>
      <p:sp>
        <p:nvSpPr>
          <p:cNvPr id="12" name="page-2">
            <a:extLst>
              <a:ext uri="{FF2B5EF4-FFF2-40B4-BE49-F238E27FC236}">
                <a16:creationId xmlns:a16="http://schemas.microsoft.com/office/drawing/2014/main" id="{33BFEB78-BDDF-42D9-9BD3-485613468ED4}"/>
              </a:ext>
            </a:extLst>
          </p:cNvPr>
          <p:cNvSpPr>
            <a:spLocks noGrp="1"/>
          </p:cNvSpPr>
          <p:nvPr/>
        </p:nvSpPr>
        <p:spPr>
          <a:xfrm>
            <a:off x="11049000" y="6257925"/>
            <a:ext cx="742950" cy="2286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0733F1-4720-407F-96F4-04F899937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275" y="1943366"/>
            <a:ext cx="5991225" cy="339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5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0997FBB0-AB85-4CD2-AF00-FC0562F0D10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FastAPI mengatur jalur request interaktif</a:t>
            </a:r>
          </a:p>
        </p:txBody>
      </p:sp>
      <p:sp>
        <p:nvSpPr>
          <p:cNvPr id="2" name="api-intro">
            <a:extLst>
              <a:ext uri="{FF2B5EF4-FFF2-40B4-BE49-F238E27FC236}">
                <a16:creationId xmlns:a16="http://schemas.microsoft.com/office/drawing/2014/main" id="{373F74CC-1351-4382-8338-9807D10C9CD5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1066800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Lapisan API menjaga kontrak tetap kecil, cepat, dan mudah dibatalkan oleh client.</a:t>
            </a:r>
          </a:p>
        </p:txBody>
      </p:sp>
      <p:sp>
        <p:nvSpPr>
          <p:cNvPr id="3" name="FastAPI-mark">
            <a:extLst>
              <a:ext uri="{FF2B5EF4-FFF2-40B4-BE49-F238E27FC236}">
                <a16:creationId xmlns:a16="http://schemas.microsoft.com/office/drawing/2014/main" id="{862B7ED6-25B5-4645-B775-8F38865F99B5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71450" cy="171450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4" name="FastAPI-label">
            <a:extLst>
              <a:ext uri="{FF2B5EF4-FFF2-40B4-BE49-F238E27FC236}">
                <a16:creationId xmlns:a16="http://schemas.microsoft.com/office/drawing/2014/main" id="{B9FB5B03-FFF9-4E2A-91FF-4EF9DBBD5AA1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095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</p:txBody>
      </p:sp>
      <p:sp>
        <p:nvSpPr>
          <p:cNvPr id="5" name="api-col-0">
            <a:extLst>
              <a:ext uri="{FF2B5EF4-FFF2-40B4-BE49-F238E27FC236}">
                <a16:creationId xmlns:a16="http://schemas.microsoft.com/office/drawing/2014/main" id="{99464FE9-663D-4809-8766-E3C50C157B01}"/>
              </a:ext>
            </a:extLst>
          </p:cNvPr>
          <p:cNvSpPr>
            <a:spLocks noGrp="1"/>
          </p:cNvSpPr>
          <p:nvPr/>
        </p:nvSpPr>
        <p:spPr>
          <a:xfrm>
            <a:off x="400050" y="2714625"/>
            <a:ext cx="3429000" cy="2428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Orkestrasi API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Endpoint async/sync, upload background task, router /api/v1, health check, dan pemisahan interface dari use case.</a:t>
            </a:r>
          </a:p>
        </p:txBody>
      </p:sp>
      <p:sp>
        <p:nvSpPr>
          <p:cNvPr id="6" name="Pydantic-mark">
            <a:extLst>
              <a:ext uri="{FF2B5EF4-FFF2-40B4-BE49-F238E27FC236}">
                <a16:creationId xmlns:a16="http://schemas.microsoft.com/office/drawing/2014/main" id="{871D3F2A-F557-4643-9D81-FD1FAAF7F66F}"/>
              </a:ext>
            </a:extLst>
          </p:cNvPr>
          <p:cNvSpPr>
            <a:spLocks noGrp="1"/>
          </p:cNvSpPr>
          <p:nvPr/>
        </p:nvSpPr>
        <p:spPr>
          <a:xfrm>
            <a:off x="4314825" y="2209800"/>
            <a:ext cx="171450" cy="171450"/>
          </a:xfrm>
          <a:prstGeom prst="rect">
            <a:avLst/>
          </a:prstGeom>
          <a:solidFill>
            <a:srgbClr val="3D8DFF"/>
          </a:solidFill>
        </p:spPr>
      </p:sp>
      <p:sp>
        <p:nvSpPr>
          <p:cNvPr id="7" name="Pydantic-label">
            <a:extLst>
              <a:ext uri="{FF2B5EF4-FFF2-40B4-BE49-F238E27FC236}">
                <a16:creationId xmlns:a16="http://schemas.microsoft.com/office/drawing/2014/main" id="{10F99370-C536-421B-AEA6-5743B1091544}"/>
              </a:ext>
            </a:extLst>
          </p:cNvPr>
          <p:cNvSpPr>
            <a:spLocks noGrp="1"/>
          </p:cNvSpPr>
          <p:nvPr/>
        </p:nvSpPr>
        <p:spPr>
          <a:xfrm>
            <a:off x="4600575" y="2190750"/>
            <a:ext cx="2095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Pydantic</a:t>
            </a:r>
          </a:p>
        </p:txBody>
      </p:sp>
      <p:sp>
        <p:nvSpPr>
          <p:cNvPr id="8" name="api-col-1">
            <a:extLst>
              <a:ext uri="{FF2B5EF4-FFF2-40B4-BE49-F238E27FC236}">
                <a16:creationId xmlns:a16="http://schemas.microsoft.com/office/drawing/2014/main" id="{5BF14A08-B0CC-4DEF-94B8-AFD3A061E054}"/>
              </a:ext>
            </a:extLst>
          </p:cNvPr>
          <p:cNvSpPr>
            <a:spLocks noGrp="1"/>
          </p:cNvSpPr>
          <p:nvPr/>
        </p:nvSpPr>
        <p:spPr>
          <a:xfrm>
            <a:off x="4314825" y="2714625"/>
            <a:ext cx="3429000" cy="2428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Kontrak data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Validasi latitude/longitude, radius, limit, enum algoritma, profil, serta compact_response sebelum komputasi dimulai.</a:t>
            </a:r>
          </a:p>
        </p:txBody>
      </p:sp>
      <p:sp>
        <p:nvSpPr>
          <p:cNvPr id="9" name="Middleware-mark">
            <a:extLst>
              <a:ext uri="{FF2B5EF4-FFF2-40B4-BE49-F238E27FC236}">
                <a16:creationId xmlns:a16="http://schemas.microsoft.com/office/drawing/2014/main" id="{5B150218-C1E9-4777-9D4F-D1C7EB17835C}"/>
              </a:ext>
            </a:extLst>
          </p:cNvPr>
          <p:cNvSpPr>
            <a:spLocks noGrp="1"/>
          </p:cNvSpPr>
          <p:nvPr/>
        </p:nvSpPr>
        <p:spPr>
          <a:xfrm>
            <a:off x="8229600" y="2209800"/>
            <a:ext cx="171450" cy="171450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10" name="Middleware-label">
            <a:extLst>
              <a:ext uri="{FF2B5EF4-FFF2-40B4-BE49-F238E27FC236}">
                <a16:creationId xmlns:a16="http://schemas.microsoft.com/office/drawing/2014/main" id="{73D5D3FB-EEB1-49EB-9BB9-61C94CAB1F27}"/>
              </a:ext>
            </a:extLst>
          </p:cNvPr>
          <p:cNvSpPr>
            <a:spLocks noGrp="1"/>
          </p:cNvSpPr>
          <p:nvPr/>
        </p:nvSpPr>
        <p:spPr>
          <a:xfrm>
            <a:off x="8515350" y="2190750"/>
            <a:ext cx="2095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Middleware</a:t>
            </a:r>
          </a:p>
        </p:txBody>
      </p:sp>
      <p:sp>
        <p:nvSpPr>
          <p:cNvPr id="11" name="api-col-2">
            <a:extLst>
              <a:ext uri="{FF2B5EF4-FFF2-40B4-BE49-F238E27FC236}">
                <a16:creationId xmlns:a16="http://schemas.microsoft.com/office/drawing/2014/main" id="{B4445587-7D6B-49DB-895D-0296B340E12E}"/>
              </a:ext>
            </a:extLst>
          </p:cNvPr>
          <p:cNvSpPr>
            <a:spLocks noGrp="1"/>
          </p:cNvSpPr>
          <p:nvPr/>
        </p:nvSpPr>
        <p:spPr>
          <a:xfrm>
            <a:off x="8229600" y="2714625"/>
            <a:ext cx="3429000" cy="2428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Efisiensi transport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GZip untuk respons ≥1.000 byte, CORS untuk browser, lifespan startup, dan prewarm graph secara non-blocking.</a:t>
            </a:r>
          </a:p>
        </p:txBody>
      </p:sp>
      <p:sp>
        <p:nvSpPr>
          <p:cNvPr id="12" name="api-takeaway">
            <a:extLst>
              <a:ext uri="{FF2B5EF4-FFF2-40B4-BE49-F238E27FC236}">
                <a16:creationId xmlns:a16="http://schemas.microsoft.com/office/drawing/2014/main" id="{27D25FE3-0DFD-4B54-A6AF-179064E7F4A3}"/>
              </a:ext>
            </a:extLst>
          </p:cNvPr>
          <p:cNvSpPr>
            <a:spLocks noGrp="1"/>
          </p:cNvSpPr>
          <p:nvPr/>
        </p:nvSpPr>
        <p:spPr>
          <a:xfrm>
            <a:off x="400050" y="5524500"/>
            <a:ext cx="106680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Hasilnya: request buruk berhenti lebih awal; request valid langsung menuju query atau graph yang sudah siap.</a:t>
            </a:r>
          </a:p>
        </p:txBody>
      </p:sp>
      <p:sp>
        <p:nvSpPr>
          <p:cNvPr id="13" name="source-3">
            <a:extLst>
              <a:ext uri="{FF2B5EF4-FFF2-40B4-BE49-F238E27FC236}">
                <a16:creationId xmlns:a16="http://schemas.microsoft.com/office/drawing/2014/main" id="{152ED45F-906F-4A0C-B159-D86BABB7D87C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9906000" cy="2095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8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Sumber: main.py:43–62 · schemas.py:9–148 · routes.py</a:t>
            </a:r>
          </a:p>
        </p:txBody>
      </p:sp>
      <p:sp>
        <p:nvSpPr>
          <p:cNvPr id="14" name="page-3">
            <a:extLst>
              <a:ext uri="{FF2B5EF4-FFF2-40B4-BE49-F238E27FC236}">
                <a16:creationId xmlns:a16="http://schemas.microsoft.com/office/drawing/2014/main" id="{4E85B9B9-AD37-421B-88BC-EA560459F4D1}"/>
              </a:ext>
            </a:extLst>
          </p:cNvPr>
          <p:cNvSpPr>
            <a:spLocks noGrp="1"/>
          </p:cNvSpPr>
          <p:nvPr/>
        </p:nvSpPr>
        <p:spPr>
          <a:xfrm>
            <a:off x="11049000" y="6257925"/>
            <a:ext cx="742950" cy="2286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012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1F3BF6DF-B279-4758-B6F8-5BBB551650A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ArangoDB menemukan masjid tanpa full scan</a:t>
            </a:r>
          </a:p>
        </p:txBody>
      </p:sp>
      <p:sp>
        <p:nvSpPr>
          <p:cNvPr id="2" name="arango-tech">
            <a:extLst>
              <a:ext uri="{FF2B5EF4-FFF2-40B4-BE49-F238E27FC236}">
                <a16:creationId xmlns:a16="http://schemas.microsoft.com/office/drawing/2014/main" id="{ADBE91E4-E71E-434F-A7E0-5103AC763162}"/>
              </a:ext>
            </a:extLst>
          </p:cNvPr>
          <p:cNvSpPr>
            <a:spLocks noGrp="1"/>
          </p:cNvSpPr>
          <p:nvPr/>
        </p:nvSpPr>
        <p:spPr>
          <a:xfrm>
            <a:off x="400050" y="1190625"/>
            <a:ext cx="4953000" cy="714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Teknologi inti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python-arango + AQL + GeoJSON index</a:t>
            </a:r>
          </a:p>
        </p:txBody>
      </p:sp>
      <p:sp>
        <p:nvSpPr>
          <p:cNvPr id="3" name="index-panel">
            <a:extLst>
              <a:ext uri="{FF2B5EF4-FFF2-40B4-BE49-F238E27FC236}">
                <a16:creationId xmlns:a16="http://schemas.microsoft.com/office/drawing/2014/main" id="{86872827-9ED9-404C-B3D2-E23E49DBCB5C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4857750" cy="3048000"/>
          </a:xfrm>
          <a:prstGeom prst="roundRect">
            <a:avLst>
              <a:gd name="adj" fmla="val 2500"/>
            </a:avLst>
          </a:prstGeom>
          <a:solidFill>
            <a:srgbClr val="E1F5EF"/>
          </a:solidFill>
        </p:spPr>
      </p:sp>
      <p:sp>
        <p:nvSpPr>
          <p:cNvPr id="4" name="arango-index">
            <a:extLst>
              <a:ext uri="{FF2B5EF4-FFF2-40B4-BE49-F238E27FC236}">
                <a16:creationId xmlns:a16="http://schemas.microsoft.com/office/drawing/2014/main" id="{47C2F541-7D51-4618-9C5E-323F415D36BD}"/>
              </a:ext>
            </a:extLst>
          </p:cNvPr>
          <p:cNvSpPr>
            <a:spLocks noGrp="1"/>
          </p:cNvSpPr>
          <p:nvPr/>
        </p:nvSpPr>
        <p:spPr>
          <a:xfrm>
            <a:off x="714375" y="2476500"/>
            <a:ext cx="4238625" cy="2333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Indeks yang disiapkan saat startup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• persistent: dataset_id
• persistent: dataset_id + id
• persistent: id
• GeoJSON: coordinate
Urutan coordinate adalah [longitude, latitude]. Backend memverifikasi indeks dan mengganti indeks coordinate yang tidak kompatibel.</a:t>
            </a:r>
          </a:p>
        </p:txBody>
      </p:sp>
      <p:sp>
        <p:nvSpPr>
          <p:cNvPr id="5" name="query-panel">
            <a:extLst>
              <a:ext uri="{FF2B5EF4-FFF2-40B4-BE49-F238E27FC236}">
                <a16:creationId xmlns:a16="http://schemas.microsoft.com/office/drawing/2014/main" id="{C986C67A-81C0-4FE1-8B6F-8D2B0CBFD81F}"/>
              </a:ext>
            </a:extLst>
          </p:cNvPr>
          <p:cNvSpPr>
            <a:spLocks noGrp="1"/>
          </p:cNvSpPr>
          <p:nvPr/>
        </p:nvSpPr>
        <p:spPr>
          <a:xfrm>
            <a:off x="5857875" y="1381125"/>
            <a:ext cx="5934075" cy="4095750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6" name="aql-code">
            <a:extLst>
              <a:ext uri="{FF2B5EF4-FFF2-40B4-BE49-F238E27FC236}">
                <a16:creationId xmlns:a16="http://schemas.microsoft.com/office/drawing/2014/main" id="{2BEE54D8-7844-40D4-86CB-A30321908F60}"/>
              </a:ext>
            </a:extLst>
          </p:cNvPr>
          <p:cNvSpPr>
            <a:spLocks noGrp="1"/>
          </p:cNvSpPr>
          <p:nvPr/>
        </p:nvSpPr>
        <p:spPr>
          <a:xfrm>
            <a:off x="6191250" y="1762125"/>
            <a:ext cx="5238750" cy="3238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0A884"/>
                </a:solidFill>
                <a:latin typeface="Consolas"/>
                <a:ea typeface="Consolas"/>
                <a:cs typeface="Consolas"/>
              </a:rPr>
              <a:t>AQL nearest</a:t>
            </a:r>
          </a:p>
          <a:p>
            <a:pPr algn="l">
              <a:lnSpc>
                <a:spcPct val="108000"/>
              </a:lnSpc>
              <a:spcAft>
                <a:spcPts val="250"/>
              </a:spcAft>
              <a:buNone/>
              <a:defRPr sz="1425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FOR m IN Mosque</a:t>
            </a:r>
          </a:p>
          <a:p>
            <a:pPr algn="l">
              <a:lnSpc>
                <a:spcPct val="108000"/>
              </a:lnSpc>
              <a:spcAft>
                <a:spcPts val="250"/>
              </a:spcAft>
              <a:buNone/>
              <a:defRPr sz="1425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FILTER m.dataset_id == @did</a:t>
            </a:r>
          </a:p>
          <a:p>
            <a:pPr algn="l">
              <a:lnSpc>
                <a:spcPct val="108000"/>
              </a:lnSpc>
              <a:spcAft>
                <a:spcPts val="250"/>
              </a:spcAft>
              <a:buNone/>
              <a:defRPr sz="1425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LET dist = GEO_DISTANCE([@lon,@lat],</a:t>
            </a:r>
          </a:p>
          <a:p>
            <a:pPr algn="l">
              <a:lnSpc>
                <a:spcPct val="108000"/>
              </a:lnSpc>
              <a:spcAft>
                <a:spcPts val="250"/>
              </a:spcAft>
              <a:buNone/>
              <a:defRPr sz="1425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                    m.coordinate)</a:t>
            </a:r>
          </a:p>
          <a:p>
            <a:pPr algn="l">
              <a:lnSpc>
                <a:spcPct val="108000"/>
              </a:lnSpc>
              <a:spcAft>
                <a:spcPts val="250"/>
              </a:spcAft>
              <a:buNone/>
              <a:defRPr sz="1425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FILTER dist &lt;= @radius_m</a:t>
            </a:r>
          </a:p>
          <a:p>
            <a:pPr algn="l">
              <a:lnSpc>
                <a:spcPct val="108000"/>
              </a:lnSpc>
              <a:spcAft>
                <a:spcPts val="250"/>
              </a:spcAft>
              <a:buNone/>
              <a:defRPr sz="1425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SORT dist ASC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LIMIT @limit</a:t>
            </a:r>
          </a:p>
        </p:txBody>
      </p:sp>
      <p:sp>
        <p:nvSpPr>
          <p:cNvPr id="7" name="arango-takeaway">
            <a:extLst>
              <a:ext uri="{FF2B5EF4-FFF2-40B4-BE49-F238E27FC236}">
                <a16:creationId xmlns:a16="http://schemas.microsoft.com/office/drawing/2014/main" id="{F06AC34D-D906-4A5A-8DAC-3F7F4B5378E4}"/>
              </a:ext>
            </a:extLst>
          </p:cNvPr>
          <p:cNvSpPr>
            <a:spLocks noGrp="1"/>
          </p:cNvSpPr>
          <p:nvPr/>
        </p:nvSpPr>
        <p:spPr>
          <a:xfrm>
            <a:off x="400050" y="5572125"/>
            <a:ext cx="108585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50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Query mengembalikan hanya field yang dipakai UI; biaya tidak tumbuh seperti pemindaian 233.418 dokumen penuh.</a:t>
            </a:r>
          </a:p>
        </p:txBody>
      </p:sp>
      <p:sp>
        <p:nvSpPr>
          <p:cNvPr id="8" name="source-4">
            <a:extLst>
              <a:ext uri="{FF2B5EF4-FFF2-40B4-BE49-F238E27FC236}">
                <a16:creationId xmlns:a16="http://schemas.microsoft.com/office/drawing/2014/main" id="{0027E4FC-AE23-415A-868C-DCC8C1B854C4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9906000" cy="2095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8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Sumber: arangodb_client.py:18–96 · arangodb_repo.py:290–346</a:t>
            </a:r>
          </a:p>
        </p:txBody>
      </p:sp>
      <p:sp>
        <p:nvSpPr>
          <p:cNvPr id="9" name="page-4">
            <a:extLst>
              <a:ext uri="{FF2B5EF4-FFF2-40B4-BE49-F238E27FC236}">
                <a16:creationId xmlns:a16="http://schemas.microsoft.com/office/drawing/2014/main" id="{E0918E37-6F7D-4AEA-862A-3CEB66E42484}"/>
              </a:ext>
            </a:extLst>
          </p:cNvPr>
          <p:cNvSpPr>
            <a:spLocks noGrp="1"/>
          </p:cNvSpPr>
          <p:nvPr/>
        </p:nvSpPr>
        <p:spPr>
          <a:xfrm>
            <a:off x="11049000" y="6257925"/>
            <a:ext cx="742950" cy="2286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963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12BDCDF3-3D0C-4989-9F3E-D9181599A63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Nearest mosque cukup dengan satu geo query</a:t>
            </a:r>
          </a:p>
        </p:txBody>
      </p:sp>
      <p:sp>
        <p:nvSpPr>
          <p:cNvPr id="2" name="nearest-num-0">
            <a:extLst>
              <a:ext uri="{FF2B5EF4-FFF2-40B4-BE49-F238E27FC236}">
                <a16:creationId xmlns:a16="http://schemas.microsoft.com/office/drawing/2014/main" id="{AF340275-02D2-498D-A89C-18F03E64B257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1143000" cy="714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405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nearest-step-0">
            <a:extLst>
              <a:ext uri="{FF2B5EF4-FFF2-40B4-BE49-F238E27FC236}">
                <a16:creationId xmlns:a16="http://schemas.microsoft.com/office/drawing/2014/main" id="{254A77A8-AB7F-45D9-8108-3A7EBAA9AF9E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3143250" cy="2238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Normalisasi request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GPS dibulatkan 4 desimal; radius dibatasi 0,5–200 km; limit 1–50. Dataset kosong berarti pencarian lintas dataset.</a:t>
            </a:r>
          </a:p>
        </p:txBody>
      </p:sp>
      <p:sp>
        <p:nvSpPr>
          <p:cNvPr id="4" name="nearest-num-1">
            <a:extLst>
              <a:ext uri="{FF2B5EF4-FFF2-40B4-BE49-F238E27FC236}">
                <a16:creationId xmlns:a16="http://schemas.microsoft.com/office/drawing/2014/main" id="{E2E205AD-76FC-442F-953A-C01B5DA56CC6}"/>
              </a:ext>
            </a:extLst>
          </p:cNvPr>
          <p:cNvSpPr>
            <a:spLocks noGrp="1"/>
          </p:cNvSpPr>
          <p:nvPr/>
        </p:nvSpPr>
        <p:spPr>
          <a:xfrm>
            <a:off x="4505325" y="2047875"/>
            <a:ext cx="1143000" cy="714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4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nearest-step-1">
            <a:extLst>
              <a:ext uri="{FF2B5EF4-FFF2-40B4-BE49-F238E27FC236}">
                <a16:creationId xmlns:a16="http://schemas.microsoft.com/office/drawing/2014/main" id="{6920B022-D07E-4923-B1B5-6659DC7044D4}"/>
              </a:ext>
            </a:extLst>
          </p:cNvPr>
          <p:cNvSpPr>
            <a:spLocks noGrp="1"/>
          </p:cNvSpPr>
          <p:nvPr/>
        </p:nvSpPr>
        <p:spPr>
          <a:xfrm>
            <a:off x="4505325" y="3143250"/>
            <a:ext cx="3143250" cy="2238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Cache + singleflight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OrderedDict menyimpan hasil 30 detik, maksimum 512 entry. Event memastikan request identik menunggu satu owner.</a:t>
            </a:r>
          </a:p>
        </p:txBody>
      </p:sp>
      <p:sp>
        <p:nvSpPr>
          <p:cNvPr id="6" name="nearest-num-2">
            <a:extLst>
              <a:ext uri="{FF2B5EF4-FFF2-40B4-BE49-F238E27FC236}">
                <a16:creationId xmlns:a16="http://schemas.microsoft.com/office/drawing/2014/main" id="{5F791BA9-7BEE-493F-9144-2614EBDD0439}"/>
              </a:ext>
            </a:extLst>
          </p:cNvPr>
          <p:cNvSpPr>
            <a:spLocks noGrp="1"/>
          </p:cNvSpPr>
          <p:nvPr/>
        </p:nvSpPr>
        <p:spPr>
          <a:xfrm>
            <a:off x="8324850" y="2047875"/>
            <a:ext cx="1143000" cy="714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405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nearest-step-2">
            <a:extLst>
              <a:ext uri="{FF2B5EF4-FFF2-40B4-BE49-F238E27FC236}">
                <a16:creationId xmlns:a16="http://schemas.microsoft.com/office/drawing/2014/main" id="{388A4799-266E-47B6-86AA-1DCC86883635}"/>
              </a:ext>
            </a:extLst>
          </p:cNvPr>
          <p:cNvSpPr>
            <a:spLocks noGrp="1"/>
          </p:cNvSpPr>
          <p:nvPr/>
        </p:nvSpPr>
        <p:spPr>
          <a:xfrm>
            <a:off x="8324850" y="3143250"/>
            <a:ext cx="3143250" cy="2238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Satu query terindeks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Backend langsung menjalankan radius maksimum yang diminta—tanpa percobaan radius bertingkat dan tanpa loop per dataset.</a:t>
            </a:r>
          </a:p>
        </p:txBody>
      </p:sp>
      <p:sp>
        <p:nvSpPr>
          <p:cNvPr id="8" name="nearest-consistency">
            <a:extLst>
              <a:ext uri="{FF2B5EF4-FFF2-40B4-BE49-F238E27FC236}">
                <a16:creationId xmlns:a16="http://schemas.microsoft.com/office/drawing/2014/main" id="{BC7B4B6A-CA9A-42BF-837A-E760DA03C841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2870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Mutasi data menaikkan generation/data_revision sehingga cache lama tidak dapat dipakai kembali.</a:t>
            </a:r>
          </a:p>
        </p:txBody>
      </p:sp>
      <p:sp>
        <p:nvSpPr>
          <p:cNvPr id="9" name="source-page-5">
            <a:extLst>
              <a:ext uri="{FF2B5EF4-FFF2-40B4-BE49-F238E27FC236}">
                <a16:creationId xmlns:a16="http://schemas.microsoft.com/office/drawing/2014/main" id="{2B03C8AB-B72B-4CAA-9606-639A88D65151}"/>
              </a:ext>
            </a:extLst>
          </p:cNvPr>
          <p:cNvSpPr>
            <a:spLocks noGrp="1"/>
          </p:cNvSpPr>
          <p:nvPr/>
        </p:nvSpPr>
        <p:spPr>
          <a:xfrm>
            <a:off x="6667500" y="6048375"/>
            <a:ext cx="4810125" cy="2095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buNone/>
              <a:defRPr sz="8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Kode: dataset_usecases.py · schemas.py  ·  5</a:t>
            </a:r>
          </a:p>
        </p:txBody>
      </p:sp>
    </p:spTree>
    <p:extLst>
      <p:ext uri="{BB962C8B-B14F-4D97-AF65-F5344CB8AC3E}">
        <p14:creationId xmlns:p14="http://schemas.microsoft.com/office/powerpoint/2010/main" val="71668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87E321FE-2630-4077-9A17-798C0EBCEED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OSMnx menyiapkan graph; NetworkX menjalankannya</a:t>
            </a:r>
          </a:p>
        </p:txBody>
      </p:sp>
      <p:sp>
        <p:nvSpPr>
          <p:cNvPr id="2" name="graph-intro">
            <a:extLst>
              <a:ext uri="{FF2B5EF4-FFF2-40B4-BE49-F238E27FC236}">
                <a16:creationId xmlns:a16="http://schemas.microsoft.com/office/drawing/2014/main" id="{B338403F-EC6D-4A79-9666-A09EDB147735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1066800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Cold path dipindahkan ke build/prewarm agar klik pengguna hanya memakai graph yang sudah siap.</a:t>
            </a:r>
          </a:p>
        </p:txBody>
      </p:sp>
      <p:sp>
        <p:nvSpPr>
          <p:cNvPr id="3" name="OSMnx-mark">
            <a:extLst>
              <a:ext uri="{FF2B5EF4-FFF2-40B4-BE49-F238E27FC236}">
                <a16:creationId xmlns:a16="http://schemas.microsoft.com/office/drawing/2014/main" id="{531686CA-7111-4EA6-ACD1-DB63B7C45245}"/>
              </a:ext>
            </a:extLst>
          </p:cNvPr>
          <p:cNvSpPr>
            <a:spLocks noGrp="1"/>
          </p:cNvSpPr>
          <p:nvPr/>
        </p:nvSpPr>
        <p:spPr>
          <a:xfrm>
            <a:off x="400050" y="2162175"/>
            <a:ext cx="171450" cy="171450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4" name="OSMnx-label">
            <a:extLst>
              <a:ext uri="{FF2B5EF4-FFF2-40B4-BE49-F238E27FC236}">
                <a16:creationId xmlns:a16="http://schemas.microsoft.com/office/drawing/2014/main" id="{57C3A842-194F-420D-BF0F-EE3E1B7EF4AC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2095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OSMnx</a:t>
            </a:r>
          </a:p>
        </p:txBody>
      </p:sp>
      <p:sp>
        <p:nvSpPr>
          <p:cNvPr id="5" name="graph-point-0">
            <a:extLst>
              <a:ext uri="{FF2B5EF4-FFF2-40B4-BE49-F238E27FC236}">
                <a16:creationId xmlns:a16="http://schemas.microsoft.com/office/drawing/2014/main" id="{C0643DF9-C7E5-4497-931D-CCA12B9DD686}"/>
              </a:ext>
            </a:extLst>
          </p:cNvPr>
          <p:cNvSpPr>
            <a:spLocks noGrp="1"/>
          </p:cNvSpPr>
          <p:nvPr/>
        </p:nvSpPr>
        <p:spPr>
          <a:xfrm>
            <a:off x="400050" y="2619375"/>
            <a:ext cx="5143500" cy="1238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OSMnx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Mengunduh road network berdasarkan bbox/koridor dan menyimpan GraphML per dataset.</a:t>
            </a:r>
          </a:p>
        </p:txBody>
      </p:sp>
      <p:sp>
        <p:nvSpPr>
          <p:cNvPr id="6" name="NetworkX-mark">
            <a:extLst>
              <a:ext uri="{FF2B5EF4-FFF2-40B4-BE49-F238E27FC236}">
                <a16:creationId xmlns:a16="http://schemas.microsoft.com/office/drawing/2014/main" id="{781FCCEE-936C-4C8D-8453-3E3139FBD6A5}"/>
              </a:ext>
            </a:extLst>
          </p:cNvPr>
          <p:cNvSpPr>
            <a:spLocks noGrp="1"/>
          </p:cNvSpPr>
          <p:nvPr/>
        </p:nvSpPr>
        <p:spPr>
          <a:xfrm>
            <a:off x="6248400" y="2162175"/>
            <a:ext cx="171450" cy="171450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7" name="NetworkX-label">
            <a:extLst>
              <a:ext uri="{FF2B5EF4-FFF2-40B4-BE49-F238E27FC236}">
                <a16:creationId xmlns:a16="http://schemas.microsoft.com/office/drawing/2014/main" id="{C44F3CCF-0134-4851-9085-A2C2345B880B}"/>
              </a:ext>
            </a:extLst>
          </p:cNvPr>
          <p:cNvSpPr>
            <a:spLocks noGrp="1"/>
          </p:cNvSpPr>
          <p:nvPr/>
        </p:nvSpPr>
        <p:spPr>
          <a:xfrm>
            <a:off x="6534150" y="2143125"/>
            <a:ext cx="2095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NetworkX</a:t>
            </a:r>
          </a:p>
        </p:txBody>
      </p:sp>
      <p:sp>
        <p:nvSpPr>
          <p:cNvPr id="8" name="graph-point-1">
            <a:extLst>
              <a:ext uri="{FF2B5EF4-FFF2-40B4-BE49-F238E27FC236}">
                <a16:creationId xmlns:a16="http://schemas.microsoft.com/office/drawing/2014/main" id="{D18CACD9-2132-4232-9E76-3B9C72031EEE}"/>
              </a:ext>
            </a:extLst>
          </p:cNvPr>
          <p:cNvSpPr>
            <a:spLocks noGrp="1"/>
          </p:cNvSpPr>
          <p:nvPr/>
        </p:nvSpPr>
        <p:spPr>
          <a:xfrm>
            <a:off x="6248400" y="2619375"/>
            <a:ext cx="5143500" cy="1238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NetworkX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Menyimpan directed graph; parallel edge diringkas ke edge tercepat dengan length, travel_time, dan geometry.</a:t>
            </a:r>
          </a:p>
        </p:txBody>
      </p:sp>
      <p:sp>
        <p:nvSpPr>
          <p:cNvPr id="9" name="Pickle runtime-mark">
            <a:extLst>
              <a:ext uri="{FF2B5EF4-FFF2-40B4-BE49-F238E27FC236}">
                <a16:creationId xmlns:a16="http://schemas.microsoft.com/office/drawing/2014/main" id="{A03DDFBE-6863-4C3D-B62F-F9A4E4BA7F18}"/>
              </a:ext>
            </a:extLst>
          </p:cNvPr>
          <p:cNvSpPr>
            <a:spLocks noGrp="1"/>
          </p:cNvSpPr>
          <p:nvPr/>
        </p:nvSpPr>
        <p:spPr>
          <a:xfrm>
            <a:off x="400050" y="4114800"/>
            <a:ext cx="171450" cy="171450"/>
          </a:xfrm>
          <a:prstGeom prst="rect">
            <a:avLst/>
          </a:prstGeom>
          <a:solidFill>
            <a:srgbClr val="3D8DFF"/>
          </a:solidFill>
        </p:spPr>
      </p:sp>
      <p:sp>
        <p:nvSpPr>
          <p:cNvPr id="10" name="Pickle runtime-label">
            <a:extLst>
              <a:ext uri="{FF2B5EF4-FFF2-40B4-BE49-F238E27FC236}">
                <a16:creationId xmlns:a16="http://schemas.microsoft.com/office/drawing/2014/main" id="{1F72C27B-AEC1-426E-8C93-AAA5C9B549EC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2095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Pickle runtime</a:t>
            </a:r>
          </a:p>
        </p:txBody>
      </p:sp>
      <p:sp>
        <p:nvSpPr>
          <p:cNvPr id="11" name="graph-point-2">
            <a:extLst>
              <a:ext uri="{FF2B5EF4-FFF2-40B4-BE49-F238E27FC236}">
                <a16:creationId xmlns:a16="http://schemas.microsoft.com/office/drawing/2014/main" id="{61BF909B-724B-4DD0-9A63-84B783083D66}"/>
              </a:ext>
            </a:extLst>
          </p:cNvPr>
          <p:cNvSpPr>
            <a:spLocks noGrp="1"/>
          </p:cNvSpPr>
          <p:nvPr/>
        </p:nvSpPr>
        <p:spPr>
          <a:xfrm>
            <a:off x="400050" y="4572000"/>
            <a:ext cx="5143500" cy="1238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Pickle runtime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Graph yang sudah diparse disimpan sebagai *.runtime.pkl dengan fingerprint ukuran dan mtime GraphML.</a:t>
            </a:r>
          </a:p>
        </p:txBody>
      </p:sp>
      <p:sp>
        <p:nvSpPr>
          <p:cNvPr id="12" name="Prewarm + LRU-mark">
            <a:extLst>
              <a:ext uri="{FF2B5EF4-FFF2-40B4-BE49-F238E27FC236}">
                <a16:creationId xmlns:a16="http://schemas.microsoft.com/office/drawing/2014/main" id="{A24F5017-DE44-4250-A25A-F61B15B6E617}"/>
              </a:ext>
            </a:extLst>
          </p:cNvPr>
          <p:cNvSpPr>
            <a:spLocks noGrp="1"/>
          </p:cNvSpPr>
          <p:nvPr/>
        </p:nvSpPr>
        <p:spPr>
          <a:xfrm>
            <a:off x="6248400" y="4114800"/>
            <a:ext cx="171450" cy="171450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13" name="Prewarm + LRU-label">
            <a:extLst>
              <a:ext uri="{FF2B5EF4-FFF2-40B4-BE49-F238E27FC236}">
                <a16:creationId xmlns:a16="http://schemas.microsoft.com/office/drawing/2014/main" id="{F49DB6AC-2235-45DB-A173-0B353268B074}"/>
              </a:ext>
            </a:extLst>
          </p:cNvPr>
          <p:cNvSpPr>
            <a:spLocks noGrp="1"/>
          </p:cNvSpPr>
          <p:nvPr/>
        </p:nvSpPr>
        <p:spPr>
          <a:xfrm>
            <a:off x="6534150" y="4095750"/>
            <a:ext cx="2095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Prewarm + LRU</a:t>
            </a:r>
          </a:p>
        </p:txBody>
      </p:sp>
      <p:sp>
        <p:nvSpPr>
          <p:cNvPr id="14" name="graph-point-3">
            <a:extLst>
              <a:ext uri="{FF2B5EF4-FFF2-40B4-BE49-F238E27FC236}">
                <a16:creationId xmlns:a16="http://schemas.microsoft.com/office/drawing/2014/main" id="{DB519758-17F5-45D9-90A3-132A898EE34C}"/>
              </a:ext>
            </a:extLst>
          </p:cNvPr>
          <p:cNvSpPr>
            <a:spLocks noGrp="1"/>
          </p:cNvSpPr>
          <p:nvPr/>
        </p:nvSpPr>
        <p:spPr>
          <a:xfrm>
            <a:off x="6248400" y="4572000"/>
            <a:ext cx="5143500" cy="1238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Prewarm + LRU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Startup memuat graph dan indeks di background; jumlah graph dalam RAM dibatasi IMOSQUE_MAX_LOADED_GRAPHS.</a:t>
            </a:r>
          </a:p>
        </p:txBody>
      </p:sp>
      <p:sp>
        <p:nvSpPr>
          <p:cNvPr id="15" name="source-6">
            <a:extLst>
              <a:ext uri="{FF2B5EF4-FFF2-40B4-BE49-F238E27FC236}">
                <a16:creationId xmlns:a16="http://schemas.microsoft.com/office/drawing/2014/main" id="{29D2EDAE-E03A-4BDA-93C6-E7CF36C0A6B4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9906000" cy="2095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8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Sumber: osm_graph.py:20–87,184–320,438–537,628–668 · main.py:11–35</a:t>
            </a:r>
          </a:p>
        </p:txBody>
      </p:sp>
      <p:sp>
        <p:nvSpPr>
          <p:cNvPr id="16" name="page-6">
            <a:extLst>
              <a:ext uri="{FF2B5EF4-FFF2-40B4-BE49-F238E27FC236}">
                <a16:creationId xmlns:a16="http://schemas.microsoft.com/office/drawing/2014/main" id="{94F35195-5010-4B50-AB08-C39006C71BA9}"/>
              </a:ext>
            </a:extLst>
          </p:cNvPr>
          <p:cNvSpPr>
            <a:spLocks noGrp="1"/>
          </p:cNvSpPr>
          <p:nvPr/>
        </p:nvSpPr>
        <p:spPr>
          <a:xfrm>
            <a:off x="11049000" y="6257925"/>
            <a:ext cx="742950" cy="2286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8901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C1984A64-63E8-42BB-8AEF-0BD4DB232CE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STRtree mempercepat snapping ke jalan</a:t>
            </a:r>
          </a:p>
        </p:txBody>
      </p:sp>
      <p:sp>
        <p:nvSpPr>
          <p:cNvPr id="2" name="snap-intro">
            <a:extLst>
              <a:ext uri="{FF2B5EF4-FFF2-40B4-BE49-F238E27FC236}">
                <a16:creationId xmlns:a16="http://schemas.microsoft.com/office/drawing/2014/main" id="{241D5D7B-87AB-4D64-9FCA-15D97FAB14C7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1104900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Routing membutuhkan node/edge jalan yang benar-benar dapat dilalui—bukan hanya titik node terdekat secara Euclidean.</a:t>
            </a:r>
          </a:p>
        </p:txBody>
      </p:sp>
      <p:sp>
        <p:nvSpPr>
          <p:cNvPr id="3" name="snap-rule-0">
            <a:extLst>
              <a:ext uri="{FF2B5EF4-FFF2-40B4-BE49-F238E27FC236}">
                <a16:creationId xmlns:a16="http://schemas.microsoft.com/office/drawing/2014/main" id="{FCC5F781-460E-454B-AB70-DD5A2AB755DF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361950" cy="47625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4" name="snap-point-0">
            <a:extLst>
              <a:ext uri="{FF2B5EF4-FFF2-40B4-BE49-F238E27FC236}">
                <a16:creationId xmlns:a16="http://schemas.microsoft.com/office/drawing/2014/main" id="{2C5563B0-6974-46C8-9FB0-600AF28AA17B}"/>
              </a:ext>
            </a:extLst>
          </p:cNvPr>
          <p:cNvSpPr>
            <a:spLocks noGrp="1"/>
          </p:cNvSpPr>
          <p:nvPr/>
        </p:nvSpPr>
        <p:spPr>
          <a:xfrm>
            <a:off x="400050" y="2428875"/>
            <a:ext cx="5143500" cy="1381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Shapely STRtree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Satu spatial index dibuat dari geometri physical road edge dan dapat disimpan sebagai *.edges.pkl.</a:t>
            </a:r>
          </a:p>
        </p:txBody>
      </p:sp>
      <p:sp>
        <p:nvSpPr>
          <p:cNvPr id="5" name="snap-rule-1">
            <a:extLst>
              <a:ext uri="{FF2B5EF4-FFF2-40B4-BE49-F238E27FC236}">
                <a16:creationId xmlns:a16="http://schemas.microsoft.com/office/drawing/2014/main" id="{622EB17C-7EB6-4F08-A342-F0561E307BF8}"/>
              </a:ext>
            </a:extLst>
          </p:cNvPr>
          <p:cNvSpPr>
            <a:spLocks noGrp="1"/>
          </p:cNvSpPr>
          <p:nvPr/>
        </p:nvSpPr>
        <p:spPr>
          <a:xfrm>
            <a:off x="6248400" y="2143125"/>
            <a:ext cx="361950" cy="47625"/>
          </a:xfrm>
          <a:prstGeom prst="rect">
            <a:avLst/>
          </a:prstGeom>
          <a:solidFill>
            <a:srgbClr val="3D8DFF"/>
          </a:solidFill>
        </p:spPr>
      </p:sp>
      <p:sp>
        <p:nvSpPr>
          <p:cNvPr id="6" name="snap-point-1">
            <a:extLst>
              <a:ext uri="{FF2B5EF4-FFF2-40B4-BE49-F238E27FC236}">
                <a16:creationId xmlns:a16="http://schemas.microsoft.com/office/drawing/2014/main" id="{8FDC2395-4798-4CA7-B674-D1F505C13003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5143500" cy="1381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NumPy vectorization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Longitude, latitude, dan priority_score diproses sebagai array untuk filter dan ranking kandidat.</a:t>
            </a:r>
          </a:p>
        </p:txBody>
      </p:sp>
      <p:sp>
        <p:nvSpPr>
          <p:cNvPr id="7" name="snap-rule-2">
            <a:extLst>
              <a:ext uri="{FF2B5EF4-FFF2-40B4-BE49-F238E27FC236}">
                <a16:creationId xmlns:a16="http://schemas.microsoft.com/office/drawing/2014/main" id="{AFB68AE8-BF52-4BA3-BDE4-D28EDE51C463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61950" cy="47625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8" name="snap-point-2">
            <a:extLst>
              <a:ext uri="{FF2B5EF4-FFF2-40B4-BE49-F238E27FC236}">
                <a16:creationId xmlns:a16="http://schemas.microsoft.com/office/drawing/2014/main" id="{DF26CC29-D3EE-479B-A708-1629AD32068F}"/>
              </a:ext>
            </a:extLst>
          </p:cNvPr>
          <p:cNvSpPr>
            <a:spLocks noGrp="1"/>
          </p:cNvSpPr>
          <p:nvPr/>
        </p:nvSpPr>
        <p:spPr>
          <a:xfrm>
            <a:off x="400050" y="4381500"/>
            <a:ext cx="5143500" cy="1381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Adaptive radius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Pencarian edge melebar hanya saat kandidat awal kurang; tidak memeriksa semua edge graph.</a:t>
            </a:r>
          </a:p>
        </p:txBody>
      </p:sp>
      <p:sp>
        <p:nvSpPr>
          <p:cNvPr id="9" name="snap-rule-3">
            <a:extLst>
              <a:ext uri="{FF2B5EF4-FFF2-40B4-BE49-F238E27FC236}">
                <a16:creationId xmlns:a16="http://schemas.microsoft.com/office/drawing/2014/main" id="{45FB539A-BD50-442E-A686-A41437AC1145}"/>
              </a:ext>
            </a:extLst>
          </p:cNvPr>
          <p:cNvSpPr>
            <a:spLocks noGrp="1"/>
          </p:cNvSpPr>
          <p:nvPr/>
        </p:nvSpPr>
        <p:spPr>
          <a:xfrm>
            <a:off x="6248400" y="4095750"/>
            <a:ext cx="361950" cy="47625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10" name="snap-point-3">
            <a:extLst>
              <a:ext uri="{FF2B5EF4-FFF2-40B4-BE49-F238E27FC236}">
                <a16:creationId xmlns:a16="http://schemas.microsoft.com/office/drawing/2014/main" id="{80F28EBF-09FF-4675-924F-810E1BEA9F83}"/>
              </a:ext>
            </a:extLst>
          </p:cNvPr>
          <p:cNvSpPr>
            <a:spLocks noGrp="1"/>
          </p:cNvSpPr>
          <p:nvPr/>
        </p:nvSpPr>
        <p:spPr>
          <a:xfrm>
            <a:off x="6248400" y="4381500"/>
            <a:ext cx="5143500" cy="1381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Edge projection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GPS diproyeksikan ke segmen jalan, menghasilkan connector dan snap diagnostics yang dapat diaudit.</a:t>
            </a:r>
          </a:p>
        </p:txBody>
      </p:sp>
      <p:sp>
        <p:nvSpPr>
          <p:cNvPr id="11" name="source-page-7">
            <a:extLst>
              <a:ext uri="{FF2B5EF4-FFF2-40B4-BE49-F238E27FC236}">
                <a16:creationId xmlns:a16="http://schemas.microsoft.com/office/drawing/2014/main" id="{3F0DAA18-33F2-4DF0-B7BB-E334AEEA29DC}"/>
              </a:ext>
            </a:extLst>
          </p:cNvPr>
          <p:cNvSpPr>
            <a:spLocks noGrp="1"/>
          </p:cNvSpPr>
          <p:nvPr/>
        </p:nvSpPr>
        <p:spPr>
          <a:xfrm>
            <a:off x="6667500" y="6048375"/>
            <a:ext cx="4810125" cy="2095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buNone/>
              <a:defRPr sz="8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Kode: osm_graph.py · routing_osm.py  ·  7</a:t>
            </a:r>
          </a:p>
        </p:txBody>
      </p:sp>
    </p:spTree>
    <p:extLst>
      <p:ext uri="{BB962C8B-B14F-4D97-AF65-F5344CB8AC3E}">
        <p14:creationId xmlns:p14="http://schemas.microsoft.com/office/powerpoint/2010/main" val="1525086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C290D96B-2866-4425-94E2-DF3B5EEF2C4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Dijkstra disesuaikan dengan bentuk pencarian</a:t>
            </a:r>
          </a:p>
        </p:txBody>
      </p:sp>
      <p:sp>
        <p:nvSpPr>
          <p:cNvPr id="2" name="dijkstra-intro">
            <a:extLst>
              <a:ext uri="{FF2B5EF4-FFF2-40B4-BE49-F238E27FC236}">
                <a16:creationId xmlns:a16="http://schemas.microsoft.com/office/drawing/2014/main" id="{7498B78D-9A60-4B93-86DA-21CAE30F75F8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1066800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Teknologinya tetap exact shortest path; optimasi berasal dari cara target dan graph dibatasi.</a:t>
            </a:r>
          </a:p>
        </p:txBody>
      </p:sp>
      <p:sp>
        <p:nvSpPr>
          <p:cNvPr id="3" name="dijkstra-panel-0">
            <a:extLst>
              <a:ext uri="{FF2B5EF4-FFF2-40B4-BE49-F238E27FC236}">
                <a16:creationId xmlns:a16="http://schemas.microsoft.com/office/drawing/2014/main" id="{A7BDB789-9579-47A2-B8B0-5F202187C07A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3476625" cy="3143250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4" name="dijkstra-col-0">
            <a:extLst>
              <a:ext uri="{FF2B5EF4-FFF2-40B4-BE49-F238E27FC236}">
                <a16:creationId xmlns:a16="http://schemas.microsoft.com/office/drawing/2014/main" id="{C0125C8F-0FC5-42A2-B2E8-E434F736F0CA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905125" cy="2524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Multi-target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Satu heapq traversal dari origin berhenti setelah seluruh node masjid kandidat settled. Tidak menjalankan Dijkstra ulang per masjid.</a:t>
            </a:r>
          </a:p>
        </p:txBody>
      </p:sp>
      <p:sp>
        <p:nvSpPr>
          <p:cNvPr id="5" name="dijkstra-panel-1">
            <a:extLst>
              <a:ext uri="{FF2B5EF4-FFF2-40B4-BE49-F238E27FC236}">
                <a16:creationId xmlns:a16="http://schemas.microsoft.com/office/drawing/2014/main" id="{8EF708F7-E0AB-4986-93E1-669DC6555236}"/>
              </a:ext>
            </a:extLst>
          </p:cNvPr>
          <p:cNvSpPr>
            <a:spLocks noGrp="1"/>
          </p:cNvSpPr>
          <p:nvPr/>
        </p:nvSpPr>
        <p:spPr>
          <a:xfrm>
            <a:off x="4314825" y="2095500"/>
            <a:ext cx="3476625" cy="3143250"/>
          </a:xfrm>
          <a:prstGeom prst="rect">
            <a:avLst/>
          </a:prstGeom>
          <a:solidFill>
            <a:srgbClr val="E1F5EF"/>
          </a:solidFill>
        </p:spPr>
      </p:sp>
      <p:sp>
        <p:nvSpPr>
          <p:cNvPr id="6" name="dijkstra-col-1">
            <a:extLst>
              <a:ext uri="{FF2B5EF4-FFF2-40B4-BE49-F238E27FC236}">
                <a16:creationId xmlns:a16="http://schemas.microsoft.com/office/drawing/2014/main" id="{F1DDD46A-9144-4CAF-A63E-F7085F7CE83C}"/>
              </a:ext>
            </a:extLst>
          </p:cNvPr>
          <p:cNvSpPr>
            <a:spLocks noGrp="1"/>
          </p:cNvSpPr>
          <p:nvPr/>
        </p:nvSpPr>
        <p:spPr>
          <a:xfrm>
            <a:off x="4600575" y="2381250"/>
            <a:ext cx="2905125" cy="2524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Bidirectional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Untuk source-target final, NetworkX nx.bidirectional_dijkstra mencari dari dua arah dan bertemu di tengah.</a:t>
            </a:r>
          </a:p>
        </p:txBody>
      </p:sp>
      <p:sp>
        <p:nvSpPr>
          <p:cNvPr id="7" name="dijkstra-panel-2">
            <a:extLst>
              <a:ext uri="{FF2B5EF4-FFF2-40B4-BE49-F238E27FC236}">
                <a16:creationId xmlns:a16="http://schemas.microsoft.com/office/drawing/2014/main" id="{51547B84-1585-4627-B2C7-1BE140B130F8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3476625" cy="3143250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8" name="dijkstra-col-2">
            <a:extLst>
              <a:ext uri="{FF2B5EF4-FFF2-40B4-BE49-F238E27FC236}">
                <a16:creationId xmlns:a16="http://schemas.microsoft.com/office/drawing/2014/main" id="{A954F93F-C307-43F1-8BD8-617DFE25B074}"/>
              </a:ext>
            </a:extLst>
          </p:cNvPr>
          <p:cNvSpPr>
            <a:spLocks noGrp="1"/>
          </p:cNvSpPr>
          <p:nvPr/>
        </p:nvSpPr>
        <p:spPr>
          <a:xfrm>
            <a:off x="8515350" y="2381250"/>
            <a:ext cx="2905125" cy="2524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Bobot travel_time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Edge memakai travel_time dengan fallback length. Parallel edge memilih bobot minimum yang valid; hasil tetap shortest path exact.</a:t>
            </a:r>
          </a:p>
        </p:txBody>
      </p:sp>
      <p:sp>
        <p:nvSpPr>
          <p:cNvPr id="9" name="dijkstra-takeaway">
            <a:extLst>
              <a:ext uri="{FF2B5EF4-FFF2-40B4-BE49-F238E27FC236}">
                <a16:creationId xmlns:a16="http://schemas.microsoft.com/office/drawing/2014/main" id="{88DB7F38-B523-4A79-896B-6D71FA2B80F1}"/>
              </a:ext>
            </a:extLst>
          </p:cNvPr>
          <p:cNvSpPr>
            <a:spLocks noGrp="1"/>
          </p:cNvSpPr>
          <p:nvPr/>
        </p:nvSpPr>
        <p:spPr>
          <a:xfrm>
            <a:off x="400050" y="5572125"/>
            <a:ext cx="11049000" cy="400050"/>
          </a:xfrm>
          <a:prstGeom prst="rect">
            <a:avLst/>
          </a:prstGeom>
        </p:spPr>
        <p:txBody>
          <a:bodyPr lIns="0" tIns="0" rIns="0" bIns="0" anchor="t">
            <a:normAutofit fontScale="92500"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50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A* tersedia sebagai opsi final path, tetapi ranking kandidat tetap memakai traversal Dijkstra multi-target yang lebih efisien.</a:t>
            </a:r>
          </a:p>
        </p:txBody>
      </p:sp>
      <p:sp>
        <p:nvSpPr>
          <p:cNvPr id="10" name="source-8">
            <a:extLst>
              <a:ext uri="{FF2B5EF4-FFF2-40B4-BE49-F238E27FC236}">
                <a16:creationId xmlns:a16="http://schemas.microsoft.com/office/drawing/2014/main" id="{BDD38EA7-701A-4108-97DA-121178A9708F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9906000" cy="2095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8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Sumber: routing_osm.py:260–322,567–706 · osm_graph.py:1109–1113</a:t>
            </a:r>
          </a:p>
        </p:txBody>
      </p:sp>
      <p:sp>
        <p:nvSpPr>
          <p:cNvPr id="11" name="page-8">
            <a:extLst>
              <a:ext uri="{FF2B5EF4-FFF2-40B4-BE49-F238E27FC236}">
                <a16:creationId xmlns:a16="http://schemas.microsoft.com/office/drawing/2014/main" id="{9D617922-D100-4C28-BA96-E2A56DB0B918}"/>
              </a:ext>
            </a:extLst>
          </p:cNvPr>
          <p:cNvSpPr>
            <a:spLocks noGrp="1"/>
          </p:cNvSpPr>
          <p:nvPr/>
        </p:nvSpPr>
        <p:spPr>
          <a:xfrm>
            <a:off x="11049000" y="6257925"/>
            <a:ext cx="742950" cy="2286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06694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2D749253-CB54-4660-BCD1-838AE0EFD51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Cache berlapis menghilangkan pekerjaan ulang</a:t>
            </a:r>
          </a:p>
        </p:txBody>
      </p:sp>
      <p:sp>
        <p:nvSpPr>
          <p:cNvPr id="2" name="cache-intro">
            <a:extLst>
              <a:ext uri="{FF2B5EF4-FFF2-40B4-BE49-F238E27FC236}">
                <a16:creationId xmlns:a16="http://schemas.microsoft.com/office/drawing/2014/main" id="{1EF49DAB-395C-4FDF-BD94-A8FB071AD5B1}"/>
              </a:ext>
            </a:extLst>
          </p:cNvPr>
          <p:cNvSpPr>
            <a:spLocks noGrp="1"/>
          </p:cNvSpPr>
          <p:nvPr/>
        </p:nvSpPr>
        <p:spPr>
          <a:xfrm>
            <a:off x="400050" y="1095375"/>
            <a:ext cx="1104900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Setiap cache mempunyai batas dan kunci konsistensi; tidak ada cache yang boleh mengalahkan data_revision atau fingerprint graph.</a:t>
            </a:r>
          </a:p>
        </p:txBody>
      </p:sp>
      <p:graphicFrame>
        <p:nvGraphicFramePr>
          <p:cNvPr id="8" name="cache-layers-table"/>
          <p:cNvGraphicFramePr/>
          <p:nvPr/>
        </p:nvGraphicFramePr>
        <p:xfrm>
          <a:off x="400050" y="2000250"/>
          <a:ext cx="11401425" cy="3476627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661">
                <a:tc>
                  <a:txBody>
                    <a:bodyPr/>
                    <a:lstStyle/>
                    <a:p>
                      <a:r>
                        <a:t>Lapisan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Teknologi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TTL / batas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Kunci konsistensi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t>Nearest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OrderedDict +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dtk / 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generation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t>Candidate snapshot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OrderedDict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dataset / 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data_revision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OrderedDict + 16 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mnt / 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revision + graph mtime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t>Internal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OrderedDict + 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 jam / 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graph + koordinat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t>Loaded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LRU in-memory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graph/proses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fingerprint GraphML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t>Edge snap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OrderedDict per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20k /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objek 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cache-takeaway">
            <a:extLst>
              <a:ext uri="{FF2B5EF4-FFF2-40B4-BE49-F238E27FC236}">
                <a16:creationId xmlns:a16="http://schemas.microsoft.com/office/drawing/2014/main" id="{6132FF84-EA50-4290-89F1-FF6628F090DC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106680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Singleflight membuat request identik berbagi komputasi; LRU menjaga RAM tetap terkendali.</a:t>
            </a:r>
          </a:p>
        </p:txBody>
      </p:sp>
      <p:sp>
        <p:nvSpPr>
          <p:cNvPr id="5" name="source-page-9">
            <a:extLst>
              <a:ext uri="{FF2B5EF4-FFF2-40B4-BE49-F238E27FC236}">
                <a16:creationId xmlns:a16="http://schemas.microsoft.com/office/drawing/2014/main" id="{F1B16C03-25F9-4660-A877-8EC7B45E72E0}"/>
              </a:ext>
            </a:extLst>
          </p:cNvPr>
          <p:cNvSpPr>
            <a:spLocks noGrp="1"/>
          </p:cNvSpPr>
          <p:nvPr/>
        </p:nvSpPr>
        <p:spPr>
          <a:xfrm>
            <a:off x="6667500" y="6048375"/>
            <a:ext cx="4810125" cy="2095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buNone/>
              <a:defRPr sz="8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Kode: dataset_usecases.py · routing_usecases.py  ·  9</a:t>
            </a:r>
          </a:p>
        </p:txBody>
      </p:sp>
    </p:spTree>
    <p:extLst>
      <p:ext uri="{BB962C8B-B14F-4D97-AF65-F5344CB8AC3E}">
        <p14:creationId xmlns:p14="http://schemas.microsoft.com/office/powerpoint/2010/main" val="1580886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5BBBAA41-2ECD-45E1-B938-60ACCF10FDC1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compact menjaga jaringan 3G tetap ringan</a:t>
            </a:r>
          </a:p>
        </p:txBody>
      </p:sp>
      <p:sp>
        <p:nvSpPr>
          <p:cNvPr id="2" name="network-intro">
            <a:extLst>
              <a:ext uri="{FF2B5EF4-FFF2-40B4-BE49-F238E27FC236}">
                <a16:creationId xmlns:a16="http://schemas.microsoft.com/office/drawing/2014/main" id="{6ADD16C2-6171-4F74-A9A0-E8102334E99F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1066800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Backend tidak hanya mempercepat komputasi; format respons juga dipilih agar waktu transfer kecil.</a:t>
            </a:r>
          </a:p>
        </p:txBody>
      </p:sp>
      <p:sp>
        <p:nvSpPr>
          <p:cNvPr id="3" name="Polyline5-mark">
            <a:extLst>
              <a:ext uri="{FF2B5EF4-FFF2-40B4-BE49-F238E27FC236}">
                <a16:creationId xmlns:a16="http://schemas.microsoft.com/office/drawing/2014/main" id="{F46D392B-D307-4F9F-B260-AC7BD137655C}"/>
              </a:ext>
            </a:extLst>
          </p:cNvPr>
          <p:cNvSpPr>
            <a:spLocks noGrp="1"/>
          </p:cNvSpPr>
          <p:nvPr/>
        </p:nvSpPr>
        <p:spPr>
          <a:xfrm>
            <a:off x="400050" y="2162175"/>
            <a:ext cx="171450" cy="171450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4" name="Polyline5-label">
            <a:extLst>
              <a:ext uri="{FF2B5EF4-FFF2-40B4-BE49-F238E27FC236}">
                <a16:creationId xmlns:a16="http://schemas.microsoft.com/office/drawing/2014/main" id="{C4877000-CC6F-442B-BA65-BE58AC7EFBDA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2095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Polyline5</a:t>
            </a:r>
          </a:p>
        </p:txBody>
      </p:sp>
      <p:sp>
        <p:nvSpPr>
          <p:cNvPr id="5" name="network-point-0">
            <a:extLst>
              <a:ext uri="{FF2B5EF4-FFF2-40B4-BE49-F238E27FC236}">
                <a16:creationId xmlns:a16="http://schemas.microsoft.com/office/drawing/2014/main" id="{327837EB-44F6-4676-A3B5-9A7F52E24A2C}"/>
              </a:ext>
            </a:extLst>
          </p:cNvPr>
          <p:cNvSpPr>
            <a:spLocks noGrp="1"/>
          </p:cNvSpPr>
          <p:nvPr/>
        </p:nvSpPr>
        <p:spPr>
          <a:xfrm>
            <a:off x="400050" y="2571750"/>
            <a:ext cx="5143500" cy="1333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Polyline5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Koordinat dikodekan sebagai delta integer, bukan array GeoJSON panjang.</a:t>
            </a:r>
          </a:p>
        </p:txBody>
      </p:sp>
      <p:sp>
        <p:nvSpPr>
          <p:cNvPr id="6" name="Simplifikasi-mark">
            <a:extLst>
              <a:ext uri="{FF2B5EF4-FFF2-40B4-BE49-F238E27FC236}">
                <a16:creationId xmlns:a16="http://schemas.microsoft.com/office/drawing/2014/main" id="{EFDF98CF-B895-4791-BEDE-9753AF0EB447}"/>
              </a:ext>
            </a:extLst>
          </p:cNvPr>
          <p:cNvSpPr>
            <a:spLocks noGrp="1"/>
          </p:cNvSpPr>
          <p:nvPr/>
        </p:nvSpPr>
        <p:spPr>
          <a:xfrm>
            <a:off x="6248400" y="2162175"/>
            <a:ext cx="171450" cy="171450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7" name="Simplifikasi-label">
            <a:extLst>
              <a:ext uri="{FF2B5EF4-FFF2-40B4-BE49-F238E27FC236}">
                <a16:creationId xmlns:a16="http://schemas.microsoft.com/office/drawing/2014/main" id="{360C47B0-7A42-40A7-B8AC-27287375BF99}"/>
              </a:ext>
            </a:extLst>
          </p:cNvPr>
          <p:cNvSpPr>
            <a:spLocks noGrp="1"/>
          </p:cNvSpPr>
          <p:nvPr/>
        </p:nvSpPr>
        <p:spPr>
          <a:xfrm>
            <a:off x="6534150" y="2143125"/>
            <a:ext cx="2095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Simplifikasi</a:t>
            </a:r>
          </a:p>
        </p:txBody>
      </p:sp>
      <p:sp>
        <p:nvSpPr>
          <p:cNvPr id="8" name="network-point-1">
            <a:extLst>
              <a:ext uri="{FF2B5EF4-FFF2-40B4-BE49-F238E27FC236}">
                <a16:creationId xmlns:a16="http://schemas.microsoft.com/office/drawing/2014/main" id="{6EC8B91E-BCC3-42E8-96BD-0577F81DBD18}"/>
              </a:ext>
            </a:extLst>
          </p:cNvPr>
          <p:cNvSpPr>
            <a:spLocks noGrp="1"/>
          </p:cNvSpPr>
          <p:nvPr/>
        </p:nvSpPr>
        <p:spPr>
          <a:xfrm>
            <a:off x="6248400" y="2571750"/>
            <a:ext cx="5143500" cy="1333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Simplifikasi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Douglas–Peucker 0,01 km mengurangi titik tanpa mengubah bentuk utama rute.</a:t>
            </a:r>
          </a:p>
        </p:txBody>
      </p:sp>
      <p:sp>
        <p:nvSpPr>
          <p:cNvPr id="9" name="compact_response-mark">
            <a:extLst>
              <a:ext uri="{FF2B5EF4-FFF2-40B4-BE49-F238E27FC236}">
                <a16:creationId xmlns:a16="http://schemas.microsoft.com/office/drawing/2014/main" id="{C264367B-F9BF-4B4C-9D6B-4E9B02B6879B}"/>
              </a:ext>
            </a:extLst>
          </p:cNvPr>
          <p:cNvSpPr>
            <a:spLocks noGrp="1"/>
          </p:cNvSpPr>
          <p:nvPr/>
        </p:nvSpPr>
        <p:spPr>
          <a:xfrm>
            <a:off x="400050" y="4114800"/>
            <a:ext cx="171450" cy="171450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10" name="compact_response-label">
            <a:extLst>
              <a:ext uri="{FF2B5EF4-FFF2-40B4-BE49-F238E27FC236}">
                <a16:creationId xmlns:a16="http://schemas.microsoft.com/office/drawing/2014/main" id="{87D80B09-CFD1-456E-8432-FE50C94E39AD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2095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compact_response</a:t>
            </a:r>
          </a:p>
        </p:txBody>
      </p:sp>
      <p:sp>
        <p:nvSpPr>
          <p:cNvPr id="11" name="network-point-2">
            <a:extLst>
              <a:ext uri="{FF2B5EF4-FFF2-40B4-BE49-F238E27FC236}">
                <a16:creationId xmlns:a16="http://schemas.microsoft.com/office/drawing/2014/main" id="{CCDCC7AD-D95E-4AE5-BD9B-C355292BD758}"/>
              </a:ext>
            </a:extLst>
          </p:cNvPr>
          <p:cNvSpPr>
            <a:spLocks noGrp="1"/>
          </p:cNvSpPr>
          <p:nvPr/>
        </p:nvSpPr>
        <p:spPr>
          <a:xfrm>
            <a:off x="400050" y="4524375"/>
            <a:ext cx="5143500" cy="1333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compact_response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route_geojson dihapus ketika UI hanya membutuhkan encoded_polyline dan ringkasan.</a:t>
            </a:r>
          </a:p>
        </p:txBody>
      </p:sp>
      <p:sp>
        <p:nvSpPr>
          <p:cNvPr id="12" name="GZip-mark">
            <a:extLst>
              <a:ext uri="{FF2B5EF4-FFF2-40B4-BE49-F238E27FC236}">
                <a16:creationId xmlns:a16="http://schemas.microsoft.com/office/drawing/2014/main" id="{F1D3632E-FB9E-49C3-8531-EFAC8409551A}"/>
              </a:ext>
            </a:extLst>
          </p:cNvPr>
          <p:cNvSpPr>
            <a:spLocks noGrp="1"/>
          </p:cNvSpPr>
          <p:nvPr/>
        </p:nvSpPr>
        <p:spPr>
          <a:xfrm>
            <a:off x="6248400" y="4114800"/>
            <a:ext cx="171450" cy="171450"/>
          </a:xfrm>
          <a:prstGeom prst="rect">
            <a:avLst/>
          </a:prstGeom>
          <a:solidFill>
            <a:srgbClr val="3D8DFF"/>
          </a:solidFill>
        </p:spPr>
      </p:sp>
      <p:sp>
        <p:nvSpPr>
          <p:cNvPr id="13" name="GZip-label">
            <a:extLst>
              <a:ext uri="{FF2B5EF4-FFF2-40B4-BE49-F238E27FC236}">
                <a16:creationId xmlns:a16="http://schemas.microsoft.com/office/drawing/2014/main" id="{99EEF3A7-C781-4FBC-A6A8-3C0737E02D34}"/>
              </a:ext>
            </a:extLst>
          </p:cNvPr>
          <p:cNvSpPr>
            <a:spLocks noGrp="1"/>
          </p:cNvSpPr>
          <p:nvPr/>
        </p:nvSpPr>
        <p:spPr>
          <a:xfrm>
            <a:off x="6534150" y="4095750"/>
            <a:ext cx="2095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GZip</a:t>
            </a:r>
          </a:p>
        </p:txBody>
      </p:sp>
      <p:sp>
        <p:nvSpPr>
          <p:cNvPr id="14" name="network-point-3">
            <a:extLst>
              <a:ext uri="{FF2B5EF4-FFF2-40B4-BE49-F238E27FC236}">
                <a16:creationId xmlns:a16="http://schemas.microsoft.com/office/drawing/2014/main" id="{DCAFC05D-BFEE-49BB-870D-D49683C8E527}"/>
              </a:ext>
            </a:extLst>
          </p:cNvPr>
          <p:cNvSpPr>
            <a:spLocks noGrp="1"/>
          </p:cNvSpPr>
          <p:nvPr/>
        </p:nvSpPr>
        <p:spPr>
          <a:xfrm>
            <a:off x="6248400" y="4524375"/>
            <a:ext cx="5143500" cy="1333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GZip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FastAPI mengompresi respons mulai 1.000 byte; payload API tipikal sekitar 1–2 KB.</a:t>
            </a:r>
          </a:p>
        </p:txBody>
      </p:sp>
      <p:sp>
        <p:nvSpPr>
          <p:cNvPr id="15" name="source-10">
            <a:extLst>
              <a:ext uri="{FF2B5EF4-FFF2-40B4-BE49-F238E27FC236}">
                <a16:creationId xmlns:a16="http://schemas.microsoft.com/office/drawing/2014/main" id="{3017A0B9-DC8B-4CC1-87A2-927176627D8A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9906000" cy="2095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8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Sumber: routes.py:442–453 · routing_osm.py:860–971 · main.py:53</a:t>
            </a:r>
          </a:p>
        </p:txBody>
      </p:sp>
      <p:sp>
        <p:nvSpPr>
          <p:cNvPr id="16" name="page-10">
            <a:extLst>
              <a:ext uri="{FF2B5EF4-FFF2-40B4-BE49-F238E27FC236}">
                <a16:creationId xmlns:a16="http://schemas.microsoft.com/office/drawing/2014/main" id="{9629FADE-9F2F-4265-8BF3-6957A4979AF0}"/>
              </a:ext>
            </a:extLst>
          </p:cNvPr>
          <p:cNvSpPr>
            <a:spLocks noGrp="1"/>
          </p:cNvSpPr>
          <p:nvPr/>
        </p:nvSpPr>
        <p:spPr>
          <a:xfrm>
            <a:off x="11049000" y="6257925"/>
            <a:ext cx="742950" cy="2286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0883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67286043-F222-4874-AFC6-F1389E5F33A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Benchmark lokal menunjukkan hasil stack</a:t>
            </a:r>
          </a:p>
        </p:txBody>
      </p:sp>
      <p:sp>
        <p:nvSpPr>
          <p:cNvPr id="2" name="benchmark-method">
            <a:extLst>
              <a:ext uri="{FF2B5EF4-FFF2-40B4-BE49-F238E27FC236}">
                <a16:creationId xmlns:a16="http://schemas.microsoft.com/office/drawing/2014/main" id="{79F76C03-BC2A-429B-9ABB-52CFC7DF0F29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11239500" cy="1000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25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Metodologi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HTTP lokal, ArangoDB dan graph sudah tersedia, payload valid, posisi Jakarta Barat. Angka adalah total endpoint dan bukan SLA produksi.</a:t>
            </a:r>
          </a:p>
        </p:txBody>
      </p:sp>
      <p:sp>
        <p:nvSpPr>
          <p:cNvPr id="3" name="benchmark-card-0">
            <a:extLst>
              <a:ext uri="{FF2B5EF4-FFF2-40B4-BE49-F238E27FC236}">
                <a16:creationId xmlns:a16="http://schemas.microsoft.com/office/drawing/2014/main" id="{0A20F6DB-EF69-42B7-9972-85824266BCA3}"/>
              </a:ext>
            </a:extLst>
          </p:cNvPr>
          <p:cNvSpPr>
            <a:spLocks noGrp="1"/>
          </p:cNvSpPr>
          <p:nvPr/>
        </p:nvSpPr>
        <p:spPr>
          <a:xfrm>
            <a:off x="400050" y="2714625"/>
            <a:ext cx="3571875" cy="2905125"/>
          </a:xfrm>
          <a:prstGeom prst="roundRect">
            <a:avLst>
              <a:gd name="adj" fmla="val 2623"/>
            </a:avLst>
          </a:prstGeom>
          <a:solidFill>
            <a:srgbClr val="F2F2F2"/>
          </a:solidFill>
        </p:spPr>
      </p:sp>
      <p:sp>
        <p:nvSpPr>
          <p:cNvPr id="4" name="benchmark-stat-0">
            <a:extLst>
              <a:ext uri="{FF2B5EF4-FFF2-40B4-BE49-F238E27FC236}">
                <a16:creationId xmlns:a16="http://schemas.microsoft.com/office/drawing/2014/main" id="{F206E265-B297-4A7A-A0F2-0C5CFA1D5144}"/>
              </a:ext>
            </a:extLst>
          </p:cNvPr>
          <p:cNvSpPr>
            <a:spLocks noGrp="1"/>
          </p:cNvSpPr>
          <p:nvPr/>
        </p:nvSpPr>
        <p:spPr>
          <a:xfrm>
            <a:off x="704850" y="3238500"/>
            <a:ext cx="2952750" cy="85725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3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51,70 ms</a:t>
            </a:r>
          </a:p>
        </p:txBody>
      </p:sp>
      <p:sp>
        <p:nvSpPr>
          <p:cNvPr id="5" name="benchmark-body-0">
            <a:extLst>
              <a:ext uri="{FF2B5EF4-FFF2-40B4-BE49-F238E27FC236}">
                <a16:creationId xmlns:a16="http://schemas.microsoft.com/office/drawing/2014/main" id="{11E7F1D4-1706-49D1-B822-34766C4FD24E}"/>
              </a:ext>
            </a:extLst>
          </p:cNvPr>
          <p:cNvSpPr>
            <a:spLocks noGrp="1"/>
          </p:cNvSpPr>
          <p:nvPr/>
        </p:nvSpPr>
        <p:spPr>
          <a:xfrm>
            <a:off x="704850" y="4429125"/>
            <a:ext cx="2952750" cy="904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35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nearest cache miss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Lintas 233.418 dokumen · limit 6</a:t>
            </a:r>
          </a:p>
        </p:txBody>
      </p:sp>
      <p:sp>
        <p:nvSpPr>
          <p:cNvPr id="6" name="benchmark-card-1">
            <a:extLst>
              <a:ext uri="{FF2B5EF4-FFF2-40B4-BE49-F238E27FC236}">
                <a16:creationId xmlns:a16="http://schemas.microsoft.com/office/drawing/2014/main" id="{1F1D035E-6336-45B3-B221-CAD8510C2E7E}"/>
              </a:ext>
            </a:extLst>
          </p:cNvPr>
          <p:cNvSpPr>
            <a:spLocks noGrp="1"/>
          </p:cNvSpPr>
          <p:nvPr/>
        </p:nvSpPr>
        <p:spPr>
          <a:xfrm>
            <a:off x="4314825" y="2714625"/>
            <a:ext cx="3571875" cy="2905125"/>
          </a:xfrm>
          <a:prstGeom prst="roundRect">
            <a:avLst>
              <a:gd name="adj" fmla="val 2623"/>
            </a:avLst>
          </a:prstGeom>
          <a:solidFill>
            <a:srgbClr val="E1F5EF"/>
          </a:solidFill>
        </p:spPr>
      </p:sp>
      <p:sp>
        <p:nvSpPr>
          <p:cNvPr id="7" name="benchmark-stat-1">
            <a:extLst>
              <a:ext uri="{FF2B5EF4-FFF2-40B4-BE49-F238E27FC236}">
                <a16:creationId xmlns:a16="http://schemas.microsoft.com/office/drawing/2014/main" id="{58E9F58A-1E08-4CF2-82B2-D2FC46F48836}"/>
              </a:ext>
            </a:extLst>
          </p:cNvPr>
          <p:cNvSpPr>
            <a:spLocks noGrp="1"/>
          </p:cNvSpPr>
          <p:nvPr/>
        </p:nvSpPr>
        <p:spPr>
          <a:xfrm>
            <a:off x="4619625" y="3238500"/>
            <a:ext cx="2952750" cy="85725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390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22,65 ms</a:t>
            </a:r>
          </a:p>
        </p:txBody>
      </p:sp>
      <p:sp>
        <p:nvSpPr>
          <p:cNvPr id="8" name="benchmark-body-1">
            <a:extLst>
              <a:ext uri="{FF2B5EF4-FFF2-40B4-BE49-F238E27FC236}">
                <a16:creationId xmlns:a16="http://schemas.microsoft.com/office/drawing/2014/main" id="{519F7201-9125-47FD-B5EB-6348CD02BC68}"/>
              </a:ext>
            </a:extLst>
          </p:cNvPr>
          <p:cNvSpPr>
            <a:spLocks noGrp="1"/>
          </p:cNvSpPr>
          <p:nvPr/>
        </p:nvSpPr>
        <p:spPr>
          <a:xfrm>
            <a:off x="4619625" y="4429125"/>
            <a:ext cx="2952750" cy="904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35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rute Dijkstra miss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Komputasi inti sampel 8,27 ms</a:t>
            </a:r>
          </a:p>
        </p:txBody>
      </p:sp>
      <p:sp>
        <p:nvSpPr>
          <p:cNvPr id="9" name="benchmark-card-2">
            <a:extLst>
              <a:ext uri="{FF2B5EF4-FFF2-40B4-BE49-F238E27FC236}">
                <a16:creationId xmlns:a16="http://schemas.microsoft.com/office/drawing/2014/main" id="{F61E046D-8386-4D5E-BE2F-7D8C31493F1B}"/>
              </a:ext>
            </a:extLst>
          </p:cNvPr>
          <p:cNvSpPr>
            <a:spLocks noGrp="1"/>
          </p:cNvSpPr>
          <p:nvPr/>
        </p:nvSpPr>
        <p:spPr>
          <a:xfrm>
            <a:off x="8229600" y="2714625"/>
            <a:ext cx="3571875" cy="2905125"/>
          </a:xfrm>
          <a:prstGeom prst="roundRect">
            <a:avLst>
              <a:gd name="adj" fmla="val 2623"/>
            </a:avLst>
          </a:prstGeom>
          <a:solidFill>
            <a:srgbClr val="F2F2F2"/>
          </a:solidFill>
        </p:spPr>
      </p:sp>
      <p:sp>
        <p:nvSpPr>
          <p:cNvPr id="10" name="benchmark-stat-2">
            <a:extLst>
              <a:ext uri="{FF2B5EF4-FFF2-40B4-BE49-F238E27FC236}">
                <a16:creationId xmlns:a16="http://schemas.microsoft.com/office/drawing/2014/main" id="{CED99361-EA61-4CAB-BA3D-3A1C0B7DC5D2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2952750" cy="85725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3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≈1–2 KB</a:t>
            </a:r>
          </a:p>
        </p:txBody>
      </p:sp>
      <p:sp>
        <p:nvSpPr>
          <p:cNvPr id="11" name="benchmark-body-2">
            <a:extLst>
              <a:ext uri="{FF2B5EF4-FFF2-40B4-BE49-F238E27FC236}">
                <a16:creationId xmlns:a16="http://schemas.microsoft.com/office/drawing/2014/main" id="{12249E89-D11E-4507-825B-B3A10AB6281F}"/>
              </a:ext>
            </a:extLst>
          </p:cNvPr>
          <p:cNvSpPr>
            <a:spLocks noGrp="1"/>
          </p:cNvSpPr>
          <p:nvPr/>
        </p:nvSpPr>
        <p:spPr>
          <a:xfrm>
            <a:off x="8534400" y="4429125"/>
            <a:ext cx="2952750" cy="904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35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compact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Nearest ≈0,98 KB · rute ≈1,33 KB</a:t>
            </a:r>
          </a:p>
        </p:txBody>
      </p:sp>
      <p:sp>
        <p:nvSpPr>
          <p:cNvPr id="12" name="source-page-11">
            <a:extLst>
              <a:ext uri="{FF2B5EF4-FFF2-40B4-BE49-F238E27FC236}">
                <a16:creationId xmlns:a16="http://schemas.microsoft.com/office/drawing/2014/main" id="{0C4148D9-7EE9-43B5-87F9-AEBD59679687}"/>
              </a:ext>
            </a:extLst>
          </p:cNvPr>
          <p:cNvSpPr>
            <a:spLocks noGrp="1"/>
          </p:cNvSpPr>
          <p:nvPr/>
        </p:nvSpPr>
        <p:spPr>
          <a:xfrm>
            <a:off x="6667500" y="6048375"/>
            <a:ext cx="4810125" cy="2095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buNone/>
              <a:defRPr sz="8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Benchmark lokal · 16 Juli 2026  ·  11</a:t>
            </a:r>
          </a:p>
        </p:txBody>
      </p:sp>
    </p:spTree>
    <p:extLst>
      <p:ext uri="{BB962C8B-B14F-4D97-AF65-F5344CB8AC3E}">
        <p14:creationId xmlns:p14="http://schemas.microsoft.com/office/powerpoint/2010/main" val="1422528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sing-kicker">
            <a:extLst>
              <a:ext uri="{FF2B5EF4-FFF2-40B4-BE49-F238E27FC236}">
                <a16:creationId xmlns:a16="http://schemas.microsoft.com/office/drawing/2014/main" id="{BA2802ED-67E1-425E-ADA1-DDD1406779C3}"/>
              </a:ext>
            </a:extLst>
          </p:cNvPr>
          <p:cNvSpPr>
            <a:spLocks noGrp="1"/>
          </p:cNvSpPr>
          <p:nvPr/>
        </p:nvSpPr>
        <p:spPr>
          <a:xfrm>
            <a:off x="400050" y="409575"/>
            <a:ext cx="24765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A8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A884"/>
                </a:solidFill>
                <a:latin typeface="Helvetica Neue"/>
                <a:ea typeface="Helvetica Neue"/>
                <a:cs typeface="Helvetica Neue"/>
              </a:rPr>
              <a:t>KESIMPULAN</a:t>
            </a:r>
          </a:p>
        </p:txBody>
      </p:sp>
      <p:sp>
        <p:nvSpPr>
          <p:cNvPr id="2" name="closing-title">
            <a:extLst>
              <a:ext uri="{FF2B5EF4-FFF2-40B4-BE49-F238E27FC236}">
                <a16:creationId xmlns:a16="http://schemas.microsoft.com/office/drawing/2014/main" id="{088803F9-4A4F-4F23-84A1-2EAAA4204FF9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9906000" cy="20955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Kecepatan berasal dari</a:t>
            </a:r>
          </a:p>
          <a:p>
            <a:pPr algn="l">
              <a:lnSpc>
                <a:spcPct val="90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kombinasi teknologi</a:t>
            </a:r>
          </a:p>
        </p:txBody>
      </p:sp>
      <p:sp>
        <p:nvSpPr>
          <p:cNvPr id="3" name="closing-rule">
            <a:extLst>
              <a:ext uri="{FF2B5EF4-FFF2-40B4-BE49-F238E27FC236}">
                <a16:creationId xmlns:a16="http://schemas.microsoft.com/office/drawing/2014/main" id="{9E59E2DB-4205-4C95-83C6-1D3D4BE6334C}"/>
              </a:ext>
            </a:extLst>
          </p:cNvPr>
          <p:cNvSpPr>
            <a:spLocks noGrp="1"/>
          </p:cNvSpPr>
          <p:nvPr/>
        </p:nvSpPr>
        <p:spPr>
          <a:xfrm>
            <a:off x="400050" y="4219575"/>
            <a:ext cx="1476375" cy="47625"/>
          </a:xfrm>
          <a:prstGeom prst="rect">
            <a:avLst/>
          </a:prstGeom>
          <a:solidFill>
            <a:srgbClr val="00A884"/>
          </a:solidFill>
        </p:spPr>
      </p:sp>
      <p:sp>
        <p:nvSpPr>
          <p:cNvPr id="4" name="closing-points">
            <a:extLst>
              <a:ext uri="{FF2B5EF4-FFF2-40B4-BE49-F238E27FC236}">
                <a16:creationId xmlns:a16="http://schemas.microsoft.com/office/drawing/2014/main" id="{9255D412-0CF5-4192-B016-863614E08980}"/>
              </a:ext>
            </a:extLst>
          </p:cNvPr>
          <p:cNvSpPr>
            <a:spLocks noGrp="1"/>
          </p:cNvSpPr>
          <p:nvPr/>
        </p:nvSpPr>
        <p:spPr>
          <a:xfrm>
            <a:off x="400050" y="4619625"/>
            <a:ext cx="10001250" cy="1238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26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ArangoDB memperkecil ruang pencarian masjid.</a:t>
            </a:r>
          </a:p>
          <a:p>
            <a:pPr algn="l">
              <a:lnSpc>
                <a:spcPct val="108000"/>
              </a:lnSpc>
              <a:spcAft>
                <a:spcPts val="26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OSMnx, NetworkX, STRtree, dan Dijkstra memperkecil kerja pada graph.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Cache, Polyline5, dan GZip memperkecil kerja ulang serta transfer jaringan.</a:t>
            </a:r>
          </a:p>
        </p:txBody>
      </p:sp>
      <p:sp>
        <p:nvSpPr>
          <p:cNvPr id="5" name="source-12">
            <a:extLst>
              <a:ext uri="{FF2B5EF4-FFF2-40B4-BE49-F238E27FC236}">
                <a16:creationId xmlns:a16="http://schemas.microsoft.com/office/drawing/2014/main" id="{D11BBE10-6276-45FF-993B-962F1B00FC8A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9906000" cy="2095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8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Rangkuman teknologi backend iMosque · 16 Juli 2026</a:t>
            </a:r>
          </a:p>
        </p:txBody>
      </p:sp>
      <p:sp>
        <p:nvSpPr>
          <p:cNvPr id="6" name="page-12">
            <a:extLst>
              <a:ext uri="{FF2B5EF4-FFF2-40B4-BE49-F238E27FC236}">
                <a16:creationId xmlns:a16="http://schemas.microsoft.com/office/drawing/2014/main" id="{6167131C-85F5-453C-BD6E-D279C4BF9886}"/>
              </a:ext>
            </a:extLst>
          </p:cNvPr>
          <p:cNvSpPr>
            <a:spLocks noGrp="1"/>
          </p:cNvSpPr>
          <p:nvPr/>
        </p:nvSpPr>
        <p:spPr>
          <a:xfrm>
            <a:off x="11049000" y="6257925"/>
            <a:ext cx="742950" cy="2286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2511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1263</Words>
  <Application>Microsoft Office PowerPoint</Application>
  <DocSecurity>0</DocSecurity>
  <PresentationFormat>Widescreen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Consolas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Riki Daniel</cp:lastModifiedBy>
  <cp:revision>1</cp:revision>
  <dcterms:created xsi:type="dcterms:W3CDTF">2026-07-16T15:49:58Z</dcterms:created>
  <dcterms:modified xsi:type="dcterms:W3CDTF">2026-07-16T15:56:56Z</dcterms:modified>
</cp:coreProperties>
</file>